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74" r:id="rId9"/>
    <p:sldId id="275" r:id="rId10"/>
    <p:sldId id="264" r:id="rId11"/>
    <p:sldId id="265" r:id="rId12"/>
    <p:sldId id="267" r:id="rId13"/>
    <p:sldId id="271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2" d="100"/>
          <a:sy n="132" d="100"/>
        </p:scale>
        <p:origin x="1707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C764DC-AB8B-461B-8B74-5E05BFC0B85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EE5452-B931-4A91-89F4-2707A7D0FE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Hate speech &amp; discrimination</a:t>
          </a:r>
        </a:p>
      </dgm:t>
    </dgm:pt>
    <dgm:pt modelId="{E3AB16A5-A7DF-4739-9656-97EFB727E5E1}" type="parTrans" cxnId="{71E1386D-96D0-4A2B-969D-F824B8560BBD}">
      <dgm:prSet/>
      <dgm:spPr/>
      <dgm:t>
        <a:bodyPr/>
        <a:lstStyle/>
        <a:p>
          <a:endParaRPr lang="en-US"/>
        </a:p>
      </dgm:t>
    </dgm:pt>
    <dgm:pt modelId="{9F247443-DF0F-4583-BC7D-C68AC3706A06}" type="sibTrans" cxnId="{71E1386D-96D0-4A2B-969D-F824B8560BBD}">
      <dgm:prSet/>
      <dgm:spPr/>
      <dgm:t>
        <a:bodyPr/>
        <a:lstStyle/>
        <a:p>
          <a:endParaRPr lang="en-US"/>
        </a:p>
      </dgm:t>
    </dgm:pt>
    <dgm:pt modelId="{20354AE6-3BFE-4504-BC87-94FFFFE17D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Insults &amp; profanity</a:t>
          </a:r>
        </a:p>
      </dgm:t>
    </dgm:pt>
    <dgm:pt modelId="{4DAE17E5-97D6-45CD-A1CD-ADFD2B9DF984}" type="parTrans" cxnId="{435BCF47-B667-4B4B-A240-D8FE47B5DC37}">
      <dgm:prSet/>
      <dgm:spPr/>
      <dgm:t>
        <a:bodyPr/>
        <a:lstStyle/>
        <a:p>
          <a:endParaRPr lang="en-US"/>
        </a:p>
      </dgm:t>
    </dgm:pt>
    <dgm:pt modelId="{37440554-BB84-4A92-A76F-B63E04AEF7A7}" type="sibTrans" cxnId="{435BCF47-B667-4B4B-A240-D8FE47B5DC37}">
      <dgm:prSet/>
      <dgm:spPr/>
      <dgm:t>
        <a:bodyPr/>
        <a:lstStyle/>
        <a:p>
          <a:endParaRPr lang="en-US"/>
        </a:p>
      </dgm:t>
    </dgm:pt>
    <dgm:pt modelId="{05C8FC0B-6597-4523-AFD4-5E3A735330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Threats &amp; harassment</a:t>
          </a:r>
        </a:p>
      </dgm:t>
    </dgm:pt>
    <dgm:pt modelId="{9611EE57-723B-4289-A99A-8CEF015DC791}" type="parTrans" cxnId="{13F8F4FE-2F23-4C4C-BA83-C0CEABB3898F}">
      <dgm:prSet/>
      <dgm:spPr/>
      <dgm:t>
        <a:bodyPr/>
        <a:lstStyle/>
        <a:p>
          <a:endParaRPr lang="en-US"/>
        </a:p>
      </dgm:t>
    </dgm:pt>
    <dgm:pt modelId="{DBD83857-08A4-4FA0-8FCA-0C263A342BF6}" type="sibTrans" cxnId="{13F8F4FE-2F23-4C4C-BA83-C0CEABB3898F}">
      <dgm:prSet/>
      <dgm:spPr/>
      <dgm:t>
        <a:bodyPr/>
        <a:lstStyle/>
        <a:p>
          <a:endParaRPr lang="en-US"/>
        </a:p>
      </dgm:t>
    </dgm:pt>
    <dgm:pt modelId="{F05E0601-8431-406C-9876-D60C6D094D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Offensive content</a:t>
          </a:r>
        </a:p>
      </dgm:t>
    </dgm:pt>
    <dgm:pt modelId="{FAF797DB-1B7E-4330-9EF7-FA7993F03369}" type="parTrans" cxnId="{2F202DC0-6CBD-4B75-AA46-84DDC5ADC380}">
      <dgm:prSet/>
      <dgm:spPr/>
      <dgm:t>
        <a:bodyPr/>
        <a:lstStyle/>
        <a:p>
          <a:endParaRPr lang="en-US"/>
        </a:p>
      </dgm:t>
    </dgm:pt>
    <dgm:pt modelId="{2A6F1679-B7EE-4FA6-8D3B-69059C68EAB6}" type="sibTrans" cxnId="{2F202DC0-6CBD-4B75-AA46-84DDC5ADC380}">
      <dgm:prSet/>
      <dgm:spPr/>
      <dgm:t>
        <a:bodyPr/>
        <a:lstStyle/>
        <a:p>
          <a:endParaRPr lang="en-US"/>
        </a:p>
      </dgm:t>
    </dgm:pt>
    <dgm:pt modelId="{709FE61C-EC3E-4234-9A96-7076C4821956}" type="pres">
      <dgm:prSet presAssocID="{84C764DC-AB8B-461B-8B74-5E05BFC0B856}" presName="root" presStyleCnt="0">
        <dgm:presLayoutVars>
          <dgm:dir/>
          <dgm:resizeHandles val="exact"/>
        </dgm:presLayoutVars>
      </dgm:prSet>
      <dgm:spPr/>
    </dgm:pt>
    <dgm:pt modelId="{D3FC85E8-ED9E-4D1B-A2B9-82DDBC55643C}" type="pres">
      <dgm:prSet presAssocID="{50EE5452-B931-4A91-89F4-2707A7D0FE9B}" presName="compNode" presStyleCnt="0"/>
      <dgm:spPr/>
    </dgm:pt>
    <dgm:pt modelId="{088CA1EB-93D8-4E09-834F-36D101DFD33E}" type="pres">
      <dgm:prSet presAssocID="{50EE5452-B931-4A91-89F4-2707A7D0FE9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gry Face with No Fill"/>
        </a:ext>
      </dgm:extLst>
    </dgm:pt>
    <dgm:pt modelId="{364A713E-99DF-463D-96F2-7C39B0F52B07}" type="pres">
      <dgm:prSet presAssocID="{50EE5452-B931-4A91-89F4-2707A7D0FE9B}" presName="spaceRect" presStyleCnt="0"/>
      <dgm:spPr/>
    </dgm:pt>
    <dgm:pt modelId="{E2EE8AF8-22DD-4C4B-94DF-19CCEF6FFFBD}" type="pres">
      <dgm:prSet presAssocID="{50EE5452-B931-4A91-89F4-2707A7D0FE9B}" presName="textRect" presStyleLbl="revTx" presStyleIdx="0" presStyleCnt="4">
        <dgm:presLayoutVars>
          <dgm:chMax val="1"/>
          <dgm:chPref val="1"/>
        </dgm:presLayoutVars>
      </dgm:prSet>
      <dgm:spPr/>
    </dgm:pt>
    <dgm:pt modelId="{86FB5B0A-BA64-4373-9987-E6B525905A06}" type="pres">
      <dgm:prSet presAssocID="{9F247443-DF0F-4583-BC7D-C68AC3706A06}" presName="sibTrans" presStyleCnt="0"/>
      <dgm:spPr/>
    </dgm:pt>
    <dgm:pt modelId="{38464F81-C350-4E4C-9CE8-2D2333C2EBA7}" type="pres">
      <dgm:prSet presAssocID="{20354AE6-3BFE-4504-BC87-94FFFFE17D2C}" presName="compNode" presStyleCnt="0"/>
      <dgm:spPr/>
    </dgm:pt>
    <dgm:pt modelId="{0EF1CA5C-7294-4D13-9DEA-BBB64F654EEF}" type="pres">
      <dgm:prSet presAssocID="{20354AE6-3BFE-4504-BC87-94FFFFE17D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gry Face with Solid Fill"/>
        </a:ext>
      </dgm:extLst>
    </dgm:pt>
    <dgm:pt modelId="{A7C20597-5C18-4185-9827-007CDDCCD410}" type="pres">
      <dgm:prSet presAssocID="{20354AE6-3BFE-4504-BC87-94FFFFE17D2C}" presName="spaceRect" presStyleCnt="0"/>
      <dgm:spPr/>
    </dgm:pt>
    <dgm:pt modelId="{147DE709-89E6-4DDC-BB22-2360963C92FF}" type="pres">
      <dgm:prSet presAssocID="{20354AE6-3BFE-4504-BC87-94FFFFE17D2C}" presName="textRect" presStyleLbl="revTx" presStyleIdx="1" presStyleCnt="4">
        <dgm:presLayoutVars>
          <dgm:chMax val="1"/>
          <dgm:chPref val="1"/>
        </dgm:presLayoutVars>
      </dgm:prSet>
      <dgm:spPr/>
    </dgm:pt>
    <dgm:pt modelId="{CC62BD4D-31DC-4541-9B69-E9BBE592061D}" type="pres">
      <dgm:prSet presAssocID="{37440554-BB84-4A92-A76F-B63E04AEF7A7}" presName="sibTrans" presStyleCnt="0"/>
      <dgm:spPr/>
    </dgm:pt>
    <dgm:pt modelId="{6D393210-3C34-4945-9F98-1358A1566CC3}" type="pres">
      <dgm:prSet presAssocID="{05C8FC0B-6597-4523-AFD4-5E3A7353300F}" presName="compNode" presStyleCnt="0"/>
      <dgm:spPr/>
    </dgm:pt>
    <dgm:pt modelId="{7B5BDCE9-C327-4E06-856D-44743BF43980}" type="pres">
      <dgm:prSet presAssocID="{05C8FC0B-6597-4523-AFD4-5E3A7353300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nger"/>
        </a:ext>
      </dgm:extLst>
    </dgm:pt>
    <dgm:pt modelId="{FC7A79F9-AC89-4775-8233-14F8BB5D6F61}" type="pres">
      <dgm:prSet presAssocID="{05C8FC0B-6597-4523-AFD4-5E3A7353300F}" presName="spaceRect" presStyleCnt="0"/>
      <dgm:spPr/>
    </dgm:pt>
    <dgm:pt modelId="{B396ED46-4B67-4F82-A91E-CBB28B011180}" type="pres">
      <dgm:prSet presAssocID="{05C8FC0B-6597-4523-AFD4-5E3A7353300F}" presName="textRect" presStyleLbl="revTx" presStyleIdx="2" presStyleCnt="4">
        <dgm:presLayoutVars>
          <dgm:chMax val="1"/>
          <dgm:chPref val="1"/>
        </dgm:presLayoutVars>
      </dgm:prSet>
      <dgm:spPr/>
    </dgm:pt>
    <dgm:pt modelId="{583794C8-5651-4EE3-8B9B-792959358D68}" type="pres">
      <dgm:prSet presAssocID="{DBD83857-08A4-4FA0-8FCA-0C263A342BF6}" presName="sibTrans" presStyleCnt="0"/>
      <dgm:spPr/>
    </dgm:pt>
    <dgm:pt modelId="{2E78BBF6-CA6F-4B22-B8FF-A410BC09B788}" type="pres">
      <dgm:prSet presAssocID="{F05E0601-8431-406C-9876-D60C6D094DC4}" presName="compNode" presStyleCnt="0"/>
      <dgm:spPr/>
    </dgm:pt>
    <dgm:pt modelId="{FB3CFB3C-7077-4748-83A2-7BA94E8EF64D}" type="pres">
      <dgm:prSet presAssocID="{F05E0601-8431-406C-9876-D60C6D094DC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9655B5A0-9C2A-4CCA-8FB6-AF7624CF7BBA}" type="pres">
      <dgm:prSet presAssocID="{F05E0601-8431-406C-9876-D60C6D094DC4}" presName="spaceRect" presStyleCnt="0"/>
      <dgm:spPr/>
    </dgm:pt>
    <dgm:pt modelId="{9E11CD94-A6F6-46BC-B57A-E5C11A295982}" type="pres">
      <dgm:prSet presAssocID="{F05E0601-8431-406C-9876-D60C6D094DC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D37F0E-F51F-478E-91DA-60DB1BA016AC}" type="presOf" srcId="{50EE5452-B931-4A91-89F4-2707A7D0FE9B}" destId="{E2EE8AF8-22DD-4C4B-94DF-19CCEF6FFFBD}" srcOrd="0" destOrd="0" presId="urn:microsoft.com/office/officeart/2018/2/layout/IconLabelList"/>
    <dgm:cxn modelId="{DA485E12-CB13-4972-A811-F0C9BA180181}" type="presOf" srcId="{84C764DC-AB8B-461B-8B74-5E05BFC0B856}" destId="{709FE61C-EC3E-4234-9A96-7076C4821956}" srcOrd="0" destOrd="0" presId="urn:microsoft.com/office/officeart/2018/2/layout/IconLabelList"/>
    <dgm:cxn modelId="{89DBA62C-7002-44BA-A9AE-1E76F5B02432}" type="presOf" srcId="{F05E0601-8431-406C-9876-D60C6D094DC4}" destId="{9E11CD94-A6F6-46BC-B57A-E5C11A295982}" srcOrd="0" destOrd="0" presId="urn:microsoft.com/office/officeart/2018/2/layout/IconLabelList"/>
    <dgm:cxn modelId="{435BCF47-B667-4B4B-A240-D8FE47B5DC37}" srcId="{84C764DC-AB8B-461B-8B74-5E05BFC0B856}" destId="{20354AE6-3BFE-4504-BC87-94FFFFE17D2C}" srcOrd="1" destOrd="0" parTransId="{4DAE17E5-97D6-45CD-A1CD-ADFD2B9DF984}" sibTransId="{37440554-BB84-4A92-A76F-B63E04AEF7A7}"/>
    <dgm:cxn modelId="{71E1386D-96D0-4A2B-969D-F824B8560BBD}" srcId="{84C764DC-AB8B-461B-8B74-5E05BFC0B856}" destId="{50EE5452-B931-4A91-89F4-2707A7D0FE9B}" srcOrd="0" destOrd="0" parTransId="{E3AB16A5-A7DF-4739-9656-97EFB727E5E1}" sibTransId="{9F247443-DF0F-4583-BC7D-C68AC3706A06}"/>
    <dgm:cxn modelId="{E0372152-668E-4D56-8B53-65FF2800C3BE}" type="presOf" srcId="{20354AE6-3BFE-4504-BC87-94FFFFE17D2C}" destId="{147DE709-89E6-4DDC-BB22-2360963C92FF}" srcOrd="0" destOrd="0" presId="urn:microsoft.com/office/officeart/2018/2/layout/IconLabelList"/>
    <dgm:cxn modelId="{2F202DC0-6CBD-4B75-AA46-84DDC5ADC380}" srcId="{84C764DC-AB8B-461B-8B74-5E05BFC0B856}" destId="{F05E0601-8431-406C-9876-D60C6D094DC4}" srcOrd="3" destOrd="0" parTransId="{FAF797DB-1B7E-4330-9EF7-FA7993F03369}" sibTransId="{2A6F1679-B7EE-4FA6-8D3B-69059C68EAB6}"/>
    <dgm:cxn modelId="{3E4F52EF-2CCD-4619-8606-75127CC5EF00}" type="presOf" srcId="{05C8FC0B-6597-4523-AFD4-5E3A7353300F}" destId="{B396ED46-4B67-4F82-A91E-CBB28B011180}" srcOrd="0" destOrd="0" presId="urn:microsoft.com/office/officeart/2018/2/layout/IconLabelList"/>
    <dgm:cxn modelId="{13F8F4FE-2F23-4C4C-BA83-C0CEABB3898F}" srcId="{84C764DC-AB8B-461B-8B74-5E05BFC0B856}" destId="{05C8FC0B-6597-4523-AFD4-5E3A7353300F}" srcOrd="2" destOrd="0" parTransId="{9611EE57-723B-4289-A99A-8CEF015DC791}" sibTransId="{DBD83857-08A4-4FA0-8FCA-0C263A342BF6}"/>
    <dgm:cxn modelId="{AFF534A6-3546-4608-8409-EB89DF4895FF}" type="presParOf" srcId="{709FE61C-EC3E-4234-9A96-7076C4821956}" destId="{D3FC85E8-ED9E-4D1B-A2B9-82DDBC55643C}" srcOrd="0" destOrd="0" presId="urn:microsoft.com/office/officeart/2018/2/layout/IconLabelList"/>
    <dgm:cxn modelId="{97E1026F-8C42-4FCB-B7FB-D401B33A1F13}" type="presParOf" srcId="{D3FC85E8-ED9E-4D1B-A2B9-82DDBC55643C}" destId="{088CA1EB-93D8-4E09-834F-36D101DFD33E}" srcOrd="0" destOrd="0" presId="urn:microsoft.com/office/officeart/2018/2/layout/IconLabelList"/>
    <dgm:cxn modelId="{0E3A6E54-B7CF-4F65-9086-394E710C170A}" type="presParOf" srcId="{D3FC85E8-ED9E-4D1B-A2B9-82DDBC55643C}" destId="{364A713E-99DF-463D-96F2-7C39B0F52B07}" srcOrd="1" destOrd="0" presId="urn:microsoft.com/office/officeart/2018/2/layout/IconLabelList"/>
    <dgm:cxn modelId="{B2888C5B-C5DB-4552-A6E7-E5F950FD5F97}" type="presParOf" srcId="{D3FC85E8-ED9E-4D1B-A2B9-82DDBC55643C}" destId="{E2EE8AF8-22DD-4C4B-94DF-19CCEF6FFFBD}" srcOrd="2" destOrd="0" presId="urn:microsoft.com/office/officeart/2018/2/layout/IconLabelList"/>
    <dgm:cxn modelId="{83DB34A2-210D-4136-BE72-DC9EFEB5E628}" type="presParOf" srcId="{709FE61C-EC3E-4234-9A96-7076C4821956}" destId="{86FB5B0A-BA64-4373-9987-E6B525905A06}" srcOrd="1" destOrd="0" presId="urn:microsoft.com/office/officeart/2018/2/layout/IconLabelList"/>
    <dgm:cxn modelId="{0F1E28BD-1659-475E-80CA-FB32A6386CA9}" type="presParOf" srcId="{709FE61C-EC3E-4234-9A96-7076C4821956}" destId="{38464F81-C350-4E4C-9CE8-2D2333C2EBA7}" srcOrd="2" destOrd="0" presId="urn:microsoft.com/office/officeart/2018/2/layout/IconLabelList"/>
    <dgm:cxn modelId="{1B42D81E-C39B-4B8F-9BE2-F1752E4BCD49}" type="presParOf" srcId="{38464F81-C350-4E4C-9CE8-2D2333C2EBA7}" destId="{0EF1CA5C-7294-4D13-9DEA-BBB64F654EEF}" srcOrd="0" destOrd="0" presId="urn:microsoft.com/office/officeart/2018/2/layout/IconLabelList"/>
    <dgm:cxn modelId="{E3DD26F0-5731-484E-A900-8886DEED4EB5}" type="presParOf" srcId="{38464F81-C350-4E4C-9CE8-2D2333C2EBA7}" destId="{A7C20597-5C18-4185-9827-007CDDCCD410}" srcOrd="1" destOrd="0" presId="urn:microsoft.com/office/officeart/2018/2/layout/IconLabelList"/>
    <dgm:cxn modelId="{EB3DBACB-F1BD-4E31-BA45-B4CD79576D50}" type="presParOf" srcId="{38464F81-C350-4E4C-9CE8-2D2333C2EBA7}" destId="{147DE709-89E6-4DDC-BB22-2360963C92FF}" srcOrd="2" destOrd="0" presId="urn:microsoft.com/office/officeart/2018/2/layout/IconLabelList"/>
    <dgm:cxn modelId="{C4A658B8-D509-4DEA-95D8-09164F2DE92F}" type="presParOf" srcId="{709FE61C-EC3E-4234-9A96-7076C4821956}" destId="{CC62BD4D-31DC-4541-9B69-E9BBE592061D}" srcOrd="3" destOrd="0" presId="urn:microsoft.com/office/officeart/2018/2/layout/IconLabelList"/>
    <dgm:cxn modelId="{9B51C0B5-CB5B-46AF-A425-ACA4A790FDD3}" type="presParOf" srcId="{709FE61C-EC3E-4234-9A96-7076C4821956}" destId="{6D393210-3C34-4945-9F98-1358A1566CC3}" srcOrd="4" destOrd="0" presId="urn:microsoft.com/office/officeart/2018/2/layout/IconLabelList"/>
    <dgm:cxn modelId="{1640A0BA-CF45-4E9B-BB0C-ED20033B5A16}" type="presParOf" srcId="{6D393210-3C34-4945-9F98-1358A1566CC3}" destId="{7B5BDCE9-C327-4E06-856D-44743BF43980}" srcOrd="0" destOrd="0" presId="urn:microsoft.com/office/officeart/2018/2/layout/IconLabelList"/>
    <dgm:cxn modelId="{D133E7F3-F8A0-468B-A41F-5A64B9CB0BC7}" type="presParOf" srcId="{6D393210-3C34-4945-9F98-1358A1566CC3}" destId="{FC7A79F9-AC89-4775-8233-14F8BB5D6F61}" srcOrd="1" destOrd="0" presId="urn:microsoft.com/office/officeart/2018/2/layout/IconLabelList"/>
    <dgm:cxn modelId="{391F6730-ED50-4940-B87F-C0383E27CAA1}" type="presParOf" srcId="{6D393210-3C34-4945-9F98-1358A1566CC3}" destId="{B396ED46-4B67-4F82-A91E-CBB28B011180}" srcOrd="2" destOrd="0" presId="urn:microsoft.com/office/officeart/2018/2/layout/IconLabelList"/>
    <dgm:cxn modelId="{4B3EA0A1-984F-48BF-A9E1-EF7269B90D18}" type="presParOf" srcId="{709FE61C-EC3E-4234-9A96-7076C4821956}" destId="{583794C8-5651-4EE3-8B9B-792959358D68}" srcOrd="5" destOrd="0" presId="urn:microsoft.com/office/officeart/2018/2/layout/IconLabelList"/>
    <dgm:cxn modelId="{D2831684-E844-428E-97C6-C980EB3C9AF7}" type="presParOf" srcId="{709FE61C-EC3E-4234-9A96-7076C4821956}" destId="{2E78BBF6-CA6F-4B22-B8FF-A410BC09B788}" srcOrd="6" destOrd="0" presId="urn:microsoft.com/office/officeart/2018/2/layout/IconLabelList"/>
    <dgm:cxn modelId="{DB74E169-C4A3-481B-A869-CA662D627F2E}" type="presParOf" srcId="{2E78BBF6-CA6F-4B22-B8FF-A410BC09B788}" destId="{FB3CFB3C-7077-4748-83A2-7BA94E8EF64D}" srcOrd="0" destOrd="0" presId="urn:microsoft.com/office/officeart/2018/2/layout/IconLabelList"/>
    <dgm:cxn modelId="{8E441203-9CBA-4ECF-B3A2-E3A6C25564C4}" type="presParOf" srcId="{2E78BBF6-CA6F-4B22-B8FF-A410BC09B788}" destId="{9655B5A0-9C2A-4CCA-8FB6-AF7624CF7BBA}" srcOrd="1" destOrd="0" presId="urn:microsoft.com/office/officeart/2018/2/layout/IconLabelList"/>
    <dgm:cxn modelId="{B08D82B0-BC6C-49E0-B980-01F254417908}" type="presParOf" srcId="{2E78BBF6-CA6F-4B22-B8FF-A410BC09B788}" destId="{9E11CD94-A6F6-46BC-B57A-E5C11A29598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8CA1EB-93D8-4E09-834F-36D101DFD33E}">
      <dsp:nvSpPr>
        <dsp:cNvPr id="0" name=""/>
        <dsp:cNvSpPr/>
      </dsp:nvSpPr>
      <dsp:spPr>
        <a:xfrm>
          <a:off x="696303" y="172615"/>
          <a:ext cx="753837" cy="7538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E8AF8-22DD-4C4B-94DF-19CCEF6FFFBD}">
      <dsp:nvSpPr>
        <dsp:cNvPr id="0" name=""/>
        <dsp:cNvSpPr/>
      </dsp:nvSpPr>
      <dsp:spPr>
        <a:xfrm>
          <a:off x="235625" y="1177922"/>
          <a:ext cx="1675195" cy="670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Hate speech &amp; discrimination</a:t>
          </a:r>
        </a:p>
      </dsp:txBody>
      <dsp:txXfrm>
        <a:off x="235625" y="1177922"/>
        <a:ext cx="1675195" cy="670078"/>
      </dsp:txXfrm>
    </dsp:sp>
    <dsp:sp modelId="{0EF1CA5C-7294-4D13-9DEA-BBB64F654EEF}">
      <dsp:nvSpPr>
        <dsp:cNvPr id="0" name=""/>
        <dsp:cNvSpPr/>
      </dsp:nvSpPr>
      <dsp:spPr>
        <a:xfrm>
          <a:off x="2664658" y="172615"/>
          <a:ext cx="753837" cy="7538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DE709-89E6-4DDC-BB22-2360963C92FF}">
      <dsp:nvSpPr>
        <dsp:cNvPr id="0" name=""/>
        <dsp:cNvSpPr/>
      </dsp:nvSpPr>
      <dsp:spPr>
        <a:xfrm>
          <a:off x="2203979" y="1177922"/>
          <a:ext cx="1675195" cy="670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Insults &amp; profanity</a:t>
          </a:r>
        </a:p>
      </dsp:txBody>
      <dsp:txXfrm>
        <a:off x="2203979" y="1177922"/>
        <a:ext cx="1675195" cy="670078"/>
      </dsp:txXfrm>
    </dsp:sp>
    <dsp:sp modelId="{7B5BDCE9-C327-4E06-856D-44743BF43980}">
      <dsp:nvSpPr>
        <dsp:cNvPr id="0" name=""/>
        <dsp:cNvSpPr/>
      </dsp:nvSpPr>
      <dsp:spPr>
        <a:xfrm>
          <a:off x="696303" y="2266799"/>
          <a:ext cx="753837" cy="7538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96ED46-4B67-4F82-A91E-CBB28B011180}">
      <dsp:nvSpPr>
        <dsp:cNvPr id="0" name=""/>
        <dsp:cNvSpPr/>
      </dsp:nvSpPr>
      <dsp:spPr>
        <a:xfrm>
          <a:off x="235625" y="3272106"/>
          <a:ext cx="1675195" cy="670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Threats &amp; harassment</a:t>
          </a:r>
        </a:p>
      </dsp:txBody>
      <dsp:txXfrm>
        <a:off x="235625" y="3272106"/>
        <a:ext cx="1675195" cy="670078"/>
      </dsp:txXfrm>
    </dsp:sp>
    <dsp:sp modelId="{FB3CFB3C-7077-4748-83A2-7BA94E8EF64D}">
      <dsp:nvSpPr>
        <dsp:cNvPr id="0" name=""/>
        <dsp:cNvSpPr/>
      </dsp:nvSpPr>
      <dsp:spPr>
        <a:xfrm>
          <a:off x="2664658" y="2266799"/>
          <a:ext cx="753837" cy="7538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11CD94-A6F6-46BC-B57A-E5C11A295982}">
      <dsp:nvSpPr>
        <dsp:cNvPr id="0" name=""/>
        <dsp:cNvSpPr/>
      </dsp:nvSpPr>
      <dsp:spPr>
        <a:xfrm>
          <a:off x="2203979" y="3272106"/>
          <a:ext cx="1675195" cy="670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Offensive content</a:t>
          </a:r>
        </a:p>
      </dsp:txBody>
      <dsp:txXfrm>
        <a:off x="2203979" y="3272106"/>
        <a:ext cx="1675195" cy="670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Toxicity/Hate Speech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6633" y="3657600"/>
            <a:ext cx="6890733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F8C8D"/>
                </a:solidFill>
              </a:defRPr>
            </a:pPr>
            <a:r>
              <a:rPr dirty="0"/>
              <a:t>Using Few-Shot Learning with Large Language Models</a:t>
            </a:r>
            <a:endParaRPr lang="tr-TR" dirty="0"/>
          </a:p>
          <a:p>
            <a:pPr algn="ctr">
              <a:defRPr sz="2400">
                <a:solidFill>
                  <a:srgbClr val="7F8C8D"/>
                </a:solidFill>
              </a:defRPr>
            </a:pPr>
            <a:r>
              <a:rPr lang="tr-TR" dirty="0"/>
              <a:t>Emre Yılmaz </a:t>
            </a:r>
          </a:p>
          <a:p>
            <a:pPr algn="ctr">
              <a:defRPr sz="2400">
                <a:solidFill>
                  <a:srgbClr val="7F8C8D"/>
                </a:solidFill>
              </a:defRPr>
            </a:pPr>
            <a:r>
              <a:rPr lang="tr-TR" dirty="0"/>
              <a:t>S028845</a:t>
            </a:r>
            <a:br>
              <a:rPr dirty="0"/>
            </a:br>
            <a:br>
              <a:rPr dirty="0"/>
            </a:br>
            <a:r>
              <a:rPr dirty="0"/>
              <a:t>AI525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Objective: Build a binary text classifier to detect toxic content using LLMs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Approach: Few-shot learning (no fine-tuning required)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Model: llama3.2:3b (3 billion parameters) via Ollama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Dataset: Surge AI Toxicity Dataset (1,000 samples)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Evaluation: Comprehensive metrics, visualizations, error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Toxicity Detection?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rPr dirty="0"/>
              <a:t>Toxic Content Includes:</a:t>
            </a:r>
          </a:p>
        </p:txBody>
      </p:sp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2988202F-9473-642D-F851-97031686D1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3472066"/>
              </p:ext>
            </p:extLst>
          </p:nvPr>
        </p:nvGraphicFramePr>
        <p:xfrm>
          <a:off x="2514600" y="1919827"/>
          <a:ext cx="41148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System Architecture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3FBA1C7-B3E7-5513-99FF-F67483772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63" y="1441622"/>
            <a:ext cx="8105473" cy="50524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49169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Dat</a:t>
            </a:r>
            <a:r>
              <a:rPr lang="tr-TR" dirty="0" err="1"/>
              <a:t>aset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Source: Surge AI Toxicity Dataset (1,000 English samples)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Labels: Binary (Toxic / Not Toxic) - 50% each class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Preprocessing: Remove nulls, duplicates, standardize labels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Balanced Sample: 100 toxic + 100 non-toxic = 200 samples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Split: 40 for few-shot examples, 160 for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Few-Shot Prompt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ECC71"/>
                </a:solidFill>
                <a:latin typeface="Consolas"/>
              </a:defRPr>
            </a:pPr>
            <a:r>
              <a:t>You are a toxicity classifier. Classify text as</a:t>
            </a:r>
            <a:br/>
            <a:r>
              <a:t>"toxic" or "non-toxic".</a:t>
            </a:r>
            <a:br/>
            <a:br/>
            <a:r>
              <a:t>Toxic: hate speech, insults, threats, harassment</a:t>
            </a:r>
            <a:br/>
            <a:r>
              <a:t>Non-toxic: respectful, constructive, neutral</a:t>
            </a:r>
            <a:br/>
            <a:br/>
            <a:r>
              <a:t>Example 1: "Great product!" → non-toxic</a:t>
            </a:r>
            <a:br/>
            <a:r>
              <a:t>Example 2: "You're an idiot!" → toxic</a:t>
            </a:r>
            <a:br/>
            <a:r>
              <a:t>Example 3: "The weather is nice" → non-toxic</a:t>
            </a:r>
            <a:br/>
            <a:r>
              <a:t>Example 4: "I hate all [group]!" → toxic</a:t>
            </a:r>
            <a:br/>
            <a:r>
              <a:t>Example 5: "This is garbage" → toxic</a:t>
            </a:r>
            <a:br/>
            <a:br/>
            <a:r>
              <a:t>Now classify: [INPUT TEXT]</a:t>
            </a:r>
            <a:br/>
            <a:r>
              <a:t>Respond with ONLY "toxic" or "non-toxic"</a:t>
            </a:r>
            <a:br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Zero-Shot vs Few-Shot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Zero-Shot Prompting: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No examples provided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Relies on pre-trained knowledge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Simpler, shorter prompts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Faster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Few-Shot Prompting: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03276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• 5 examples in prompt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• Guides model behavior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• More context provided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• May improve edge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B48C2-BED3-916A-9C35-D7BF37E45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515B95-F4F5-0930-F8FC-7A53695FAD1C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E54BE-31DA-662C-6D9C-96607D408538}"/>
              </a:ext>
            </a:extLst>
          </p:cNvPr>
          <p:cNvSpPr txBox="1"/>
          <p:nvPr/>
        </p:nvSpPr>
        <p:spPr>
          <a:xfrm>
            <a:off x="457200" y="274320"/>
            <a:ext cx="26961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tr-TR" dirty="0" err="1"/>
              <a:t>Inference</a:t>
            </a:r>
            <a:r>
              <a:rPr lang="tr-TR" dirty="0"/>
              <a:t> </a:t>
            </a:r>
            <a:r>
              <a:rPr lang="tr-TR" dirty="0" err="1"/>
              <a:t>Flow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443768-9335-3F47-7E27-AEA33A349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75" y="1543308"/>
            <a:ext cx="7037049" cy="481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87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Inference Engine - 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1645920" cy="731520"/>
          </a:xfrm>
          <a:prstGeom prst="round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Input Text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11680" y="1645920"/>
            <a:ext cx="548640" cy="365760"/>
          </a:xfrm>
          <a:prstGeom prst="rightArrow">
            <a:avLst/>
          </a:prstGeom>
          <a:solidFill>
            <a:srgbClr val="7F8C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51760" y="1463040"/>
            <a:ext cx="1828800" cy="73152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Build Prompt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45920"/>
            <a:ext cx="548640" cy="365760"/>
          </a:xfrm>
          <a:prstGeom prst="rightArrow">
            <a:avLst/>
          </a:prstGeom>
          <a:solidFill>
            <a:srgbClr val="7F8C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12080" y="1463040"/>
            <a:ext cx="1828800" cy="731520"/>
          </a:xfrm>
          <a:prstGeom prst="round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Ollama API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2320" y="1645920"/>
            <a:ext cx="548640" cy="365760"/>
          </a:xfrm>
          <a:prstGeom prst="rightArrow">
            <a:avLst/>
          </a:prstGeom>
          <a:solidFill>
            <a:srgbClr val="7F8C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0" y="1463040"/>
            <a:ext cx="1188720" cy="73152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4688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Ollama API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834640"/>
            <a:ext cx="41148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• Model: llama3.2:3b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• Temperature: 0.1 (low for consistency)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• </a:t>
            </a:r>
            <a:r>
              <a:rPr lang="en-US" dirty="0"/>
              <a:t>Max tokens</a:t>
            </a:r>
            <a:r>
              <a:rPr dirty="0"/>
              <a:t>: 20 (short response)</a:t>
            </a:r>
            <a:r>
              <a:rPr lang="tr-TR" dirty="0"/>
              <a:t> (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only</a:t>
            </a:r>
            <a:r>
              <a:rPr lang="tr-TR" dirty="0"/>
              <a:t> </a:t>
            </a:r>
            <a:r>
              <a:rPr lang="tr-TR" dirty="0" err="1"/>
              <a:t>need</a:t>
            </a:r>
            <a:r>
              <a:rPr lang="tr-TR" dirty="0"/>
              <a:t> </a:t>
            </a:r>
            <a:r>
              <a:rPr lang="tr-TR" dirty="0" err="1"/>
              <a:t>toxic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non-toxic</a:t>
            </a:r>
            <a:r>
              <a:rPr lang="tr-TR" dirty="0"/>
              <a:t> </a:t>
            </a:r>
            <a:r>
              <a:rPr lang="tr-TR" dirty="0" err="1"/>
              <a:t>output</a:t>
            </a:r>
            <a:r>
              <a:rPr lang="tr-TR" dirty="0"/>
              <a:t>)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lang="en-US" dirty="0"/>
              <a:t>• Retries: 3 attempts on failure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lang="en-US" dirty="0"/>
              <a:t>• Timeout: 60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688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Response Parsing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34640"/>
            <a:ext cx="411480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• Clean response (lowercase, strip)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• Check for 'non-toxic’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dirty="0"/>
              <a:t>'toxic'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• Handle invalid responses (-1)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• Return: 0, 1, or -1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754880"/>
            <a:ext cx="8595360" cy="1828800"/>
          </a:xfrm>
          <a:prstGeom prst="roundRect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ECC71"/>
                </a:solidFill>
                <a:latin typeface="Consolas"/>
              </a:defRPr>
            </a:pPr>
            <a:r>
              <a:t>response = ollama.generate(model='llama3.2:3b', prompt=prompt,</a:t>
            </a:r>
            <a:br/>
            <a:r>
              <a:t>                          options={'temperature': 0.1, 'num_predict': 20})</a:t>
            </a:r>
            <a:br/>
            <a:r>
              <a:t>result = parse_response(response['response'])  # Returns 0, 1, or -1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Zero-Shot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Few-Shot (5 examples)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95.60%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94.23%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95.65%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94.22%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95.61%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94.24%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95.60%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94.23%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Valid Responses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99.4%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97.5%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False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False Negatives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Confusion Matrix (Zero-Shot)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Pred: Non-toxic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Pred: Toxic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Actual: Non-toxic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75 (TN)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 (FP)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Actual: Toxic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 (FN)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78 (TP)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False Positives (5 cases):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128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• Strong opinions</a:t>
            </a:r>
            <a:r>
              <a:rPr lang="en-US" dirty="0"/>
              <a:t> misclassified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• Sarcasm or emphatic language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• Discussing sensitive topics</a:t>
            </a:r>
            <a:r>
              <a:rPr lang="tr-TR" dirty="0"/>
              <a:t> in a </a:t>
            </a:r>
            <a:r>
              <a:rPr lang="tr-TR" dirty="0" err="1"/>
              <a:t>neutral</a:t>
            </a:r>
            <a:r>
              <a:rPr lang="tr-TR" dirty="0"/>
              <a:t>/</a:t>
            </a:r>
            <a:r>
              <a:rPr lang="tr-TR" dirty="0" err="1"/>
              <a:t>academic</a:t>
            </a:r>
            <a:r>
              <a:rPr lang="tr-TR" dirty="0"/>
              <a:t> </a:t>
            </a:r>
            <a:r>
              <a:rPr lang="tr-TR" dirty="0" err="1"/>
              <a:t>way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False Negatives (2 cases):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411480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• Subtle or coded toxicity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• Context</a:t>
            </a:r>
            <a:r>
              <a:rPr lang="tr-TR" dirty="0"/>
              <a:t> </a:t>
            </a:r>
            <a:r>
              <a:rPr dirty="0"/>
              <a:t>dependent harm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97769"/>
            <a:ext cx="82296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• Built complete toxicity detection pipeline using LLMs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• Achieved 95.6% accuracy with zero-shot prompting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• Compared few-shot vs zero-shot approaches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• Pre-trained LLMs are practical for content moderation</a:t>
            </a:r>
            <a:endParaRPr lang="tr-TR" dirty="0"/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rPr lang="en-US" dirty="0"/>
              <a:t>• Edge cases (sarcasm, context-dependent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meaning</a:t>
            </a:r>
            <a:r>
              <a:rPr lang="en-US" dirty="0"/>
              <a:t>) remain challenging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• No fine-tuning needed for strong baseline performance</a:t>
            </a:r>
            <a:endParaRPr lang="tr-TR" dirty="0"/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endParaRPr lang="tr-TR" dirty="0"/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F8C8D"/>
                </a:solidFill>
              </a:defRPr>
            </a:pPr>
            <a:r>
              <a:t>Questions &amp; Discussion</a:t>
            </a:r>
            <a:br/>
            <a:br/>
            <a:r>
              <a:t>AI525 - Toxicity Detection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656</Words>
  <Application>Microsoft Office PowerPoint</Application>
  <PresentationFormat>On-screen Show (4:3)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Emre Yılmaz</cp:lastModifiedBy>
  <cp:revision>3</cp:revision>
  <dcterms:created xsi:type="dcterms:W3CDTF">2013-01-27T09:14:16Z</dcterms:created>
  <dcterms:modified xsi:type="dcterms:W3CDTF">2026-01-13T22:25:21Z</dcterms:modified>
  <cp:category/>
</cp:coreProperties>
</file>